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762000"/>
            <a:ext cx="2133600" cy="304800"/>
          </a:xfrm>
          <a:prstGeom prst="roundRect">
            <a:avLst/>
          </a:prstGeom>
          <a:solidFill>
            <a:srgbClr val="EEF3FF"/>
          </a:solidFill>
          <a:ln w="10160">
            <a:solidFill>
              <a:srgbClr val="5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812800"/>
            <a:ext cx="21336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950" b="1">
                <a:solidFill>
                  <a:srgbClr val="0C35F2"/>
                </a:solidFill>
                <a:latin typeface="Aptos Display"/>
              </a:rPr>
              <a:t>Masters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371600"/>
            <a:ext cx="533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9"/>
              </a:lnSpc>
            </a:pPr>
            <a:r>
              <a:rPr sz="3400" b="1">
                <a:solidFill>
                  <a:srgbClr val="05164D"/>
                </a:solidFill>
                <a:latin typeface="Aptos Display"/>
              </a:rPr>
              <a:t>AGV Fleet VLA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62200"/>
            <a:ext cx="5461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sz="1500" b="0">
                <a:solidFill>
                  <a:srgbClr val="595452"/>
                </a:solidFill>
                <a:latin typeface="Aptos"/>
              </a:rPr>
              <a:t>Multimodal Vision-Language-Action Decision Support for False-Positive Safety Stops in Autonomous Guided Vehicles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58140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0">
                <a:solidFill>
                  <a:srgbClr val="05164D"/>
                </a:solidFill>
                <a:latin typeface="Aptos"/>
              </a:rPr>
              <a:t>Vikas Rathore, Neha Anil Khot</a:t>
            </a:r>
          </a:p>
          <a:p>
            <a:pPr algn="l">
              <a:lnSpc>
                <a:spcPts val="1625"/>
              </a:lnSpc>
            </a:pPr>
            <a:r>
              <a:rPr sz="1300" b="0">
                <a:solidFill>
                  <a:srgbClr val="05164D"/>
                </a:solidFill>
                <a:latin typeface="Aptos"/>
              </a:rPr>
              <a:t>Information Technology</a:t>
            </a:r>
          </a:p>
          <a:p>
            <a:pPr algn="l">
              <a:lnSpc>
                <a:spcPts val="1625"/>
              </a:lnSpc>
            </a:pPr>
            <a:r>
              <a:rPr sz="1300" b="0">
                <a:solidFill>
                  <a:srgbClr val="05164D"/>
                </a:solidFill>
                <a:latin typeface="Aptos"/>
              </a:rPr>
              <a:t>Frankfurt University of Applied Sciences</a:t>
            </a:r>
          </a:p>
          <a:p>
            <a:pPr algn="l">
              <a:lnSpc>
                <a:spcPts val="1625"/>
              </a:lnSpc>
            </a:pPr>
            <a:r>
              <a:rPr sz="1300" b="0">
                <a:solidFill>
                  <a:srgbClr val="05164D"/>
                </a:solidFill>
                <a:latin typeface="Aptos"/>
              </a:rPr>
              <a:t>Autonomous Intelligent Systems</a:t>
            </a:r>
          </a:p>
          <a:p>
            <a:pPr algn="l">
              <a:lnSpc>
                <a:spcPts val="1625"/>
              </a:lnSpc>
            </a:pPr>
            <a:r>
              <a:rPr sz="1300" b="0">
                <a:solidFill>
                  <a:srgbClr val="05164D"/>
                </a:solidFill>
                <a:latin typeface="Aptos"/>
              </a:rPr>
              <a:t>Project guidance: Prof. Peter Nauth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07200" y="1041400"/>
            <a:ext cx="47244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700" y="1193800"/>
            <a:ext cx="3327400" cy="3327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09600" y="5384800"/>
            <a:ext cx="10922000" cy="7112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600" y="5588000"/>
            <a:ext cx="1041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37"/>
              </a:lnSpc>
            </a:pPr>
            <a:r>
              <a:rPr sz="1250" b="1">
                <a:solidFill>
                  <a:srgbClr val="05164D"/>
                </a:solidFill>
                <a:latin typeface="Aptos Display"/>
              </a:rPr>
              <a:t>Human-in-the-loop advisory system for operator review of AGV stop events. Prototype evidence, not autonomous actuation.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53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AGV Fleet VLA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2000" y="6553200"/>
            <a:ext cx="736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30200"/>
            <a:ext cx="787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>
                <a:solidFill>
                  <a:srgbClr val="05164D"/>
                </a:solidFill>
                <a:latin typeface="Aptos Display"/>
              </a:rPr>
              <a:t>Problem and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34600" y="279400"/>
            <a:ext cx="1524000" cy="304800"/>
          </a:xfrm>
          <a:prstGeom prst="roundRect">
            <a:avLst/>
          </a:prstGeom>
          <a:solidFill>
            <a:srgbClr val="EEF3FF"/>
          </a:solidFill>
          <a:ln w="10160">
            <a:solidFill>
              <a:srgbClr val="5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34600" y="3302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950" b="1">
                <a:solidFill>
                  <a:srgbClr val="0C35F2"/>
                </a:solidFill>
                <a:latin typeface="Aptos Display"/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914400"/>
            <a:ext cx="11125200" cy="15240"/>
          </a:xfrm>
          <a:prstGeom prst="rect">
            <a:avLst/>
          </a:prstGeom>
          <a:solidFill>
            <a:srgbClr val="D9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AGV Fleet VLA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0" y="6553200"/>
            <a:ext cx="736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2/13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44600"/>
            <a:ext cx="4699000" cy="213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5"/>
              </a:lnSpc>
            </a:pPr>
            <a:r>
              <a:rPr sz="1420" b="0">
                <a:solidFill>
                  <a:srgbClr val="05164D"/>
                </a:solidFill>
                <a:latin typeface="Aptos"/>
              </a:rPr>
              <a:t>• False-positive AGV stops reduce throughput and increase operator workload.</a:t>
            </a:r>
          </a:p>
          <a:p>
            <a:pPr algn="l">
              <a:lnSpc>
                <a:spcPts val="1675"/>
              </a:lnSpc>
            </a:pPr>
            <a:r>
              <a:rPr sz="1420" b="0">
                <a:solidFill>
                  <a:srgbClr val="05164D"/>
                </a:solidFill>
                <a:latin typeface="Aptos"/>
              </a:rPr>
              <a:t>• Range sensors can detect distance, but not whether the obstacle is harmless or dangerous.</a:t>
            </a:r>
          </a:p>
          <a:p>
            <a:pPr algn="l">
              <a:lnSpc>
                <a:spcPts val="1675"/>
              </a:lnSpc>
            </a:pPr>
            <a:r>
              <a:rPr sz="1420" b="0">
                <a:solidFill>
                  <a:srgbClr val="05164D"/>
                </a:solidFill>
                <a:latin typeface="Aptos"/>
              </a:rPr>
              <a:t>• Lightweight foil, wrapping film, paper, and soft barriers can trigger the same stop logic as real hazards.</a:t>
            </a:r>
          </a:p>
          <a:p>
            <a:pPr algn="l">
              <a:lnSpc>
                <a:spcPts val="1675"/>
              </a:lnSpc>
            </a:pPr>
            <a:r>
              <a:rPr sz="1420" b="0">
                <a:solidFill>
                  <a:srgbClr val="05164D"/>
                </a:solidFill>
                <a:latin typeface="Aptos"/>
              </a:rPr>
              <a:t>• Operators need faster context to distinguish nuisance stops from genuine risk without removing human authority.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62600" y="1244600"/>
            <a:ext cx="2794000" cy="231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91200" y="1473200"/>
            <a:ext cx="2336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sz="1450" b="1">
                <a:solidFill>
                  <a:srgbClr val="388C73"/>
                </a:solidFill>
                <a:latin typeface="Aptos Display"/>
              </a:rPr>
              <a:t>Benign nuisance obstacles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1854200"/>
            <a:ext cx="2235200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92"/>
              </a:lnSpc>
            </a:pPr>
            <a:r>
              <a:rPr sz="1180" b="0">
                <a:solidFill>
                  <a:srgbClr val="05164D"/>
                </a:solidFill>
                <a:latin typeface="Aptos"/>
              </a:rPr>
              <a:t>• Loose paper or wrapping material</a:t>
            </a:r>
          </a:p>
          <a:p>
            <a:pPr algn="l">
              <a:lnSpc>
                <a:spcPts val="1392"/>
              </a:lnSpc>
            </a:pPr>
            <a:r>
              <a:rPr sz="1180" b="0">
                <a:solidFill>
                  <a:srgbClr val="05164D"/>
                </a:solidFill>
                <a:latin typeface="Aptos"/>
              </a:rPr>
              <a:t>• Reflective foil or soft plastic sheet</a:t>
            </a:r>
          </a:p>
          <a:p>
            <a:pPr algn="l">
              <a:lnSpc>
                <a:spcPts val="1392"/>
              </a:lnSpc>
            </a:pPr>
            <a:r>
              <a:rPr sz="1180" b="0">
                <a:solidFill>
                  <a:srgbClr val="05164D"/>
                </a:solidFill>
                <a:latin typeface="Aptos"/>
              </a:rPr>
              <a:t>• Visually large but low-mass clutter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36000" y="1244600"/>
            <a:ext cx="2794000" cy="231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4600" y="1473200"/>
            <a:ext cx="2336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sz="1450" b="1">
                <a:solidFill>
                  <a:srgbClr val="BF0A30"/>
                </a:solidFill>
                <a:latin typeface="Aptos Display"/>
              </a:rPr>
              <a:t>High-risk obstacles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4600" y="1854200"/>
            <a:ext cx="2235200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92"/>
              </a:lnSpc>
            </a:pPr>
            <a:r>
              <a:rPr sz="1180" b="0">
                <a:solidFill>
                  <a:srgbClr val="05164D"/>
                </a:solidFill>
                <a:latin typeface="Aptos"/>
              </a:rPr>
              <a:t>• Dropped pallet or heavy cargo</a:t>
            </a:r>
          </a:p>
          <a:p>
            <a:pPr algn="l">
              <a:lnSpc>
                <a:spcPts val="1392"/>
              </a:lnSpc>
            </a:pPr>
            <a:r>
              <a:rPr sz="1180" b="0">
                <a:solidFill>
                  <a:srgbClr val="05164D"/>
                </a:solidFill>
                <a:latin typeface="Aptos"/>
              </a:rPr>
              <a:t>• Human worker or moving object</a:t>
            </a:r>
          </a:p>
          <a:p>
            <a:pPr algn="l">
              <a:lnSpc>
                <a:spcPts val="1392"/>
              </a:lnSpc>
            </a:pPr>
            <a:r>
              <a:rPr sz="1180" b="0">
                <a:solidFill>
                  <a:srgbClr val="05164D"/>
                </a:solidFill>
                <a:latin typeface="Aptos"/>
              </a:rPr>
              <a:t>• Solid equipment blocking the AGV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00" y="3962400"/>
            <a:ext cx="10896600" cy="17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4191000"/>
            <a:ext cx="3048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300" b="1">
                <a:solidFill>
                  <a:srgbClr val="05164D"/>
                </a:solidFill>
                <a:latin typeface="Aptos Display"/>
              </a:rPr>
              <a:t>Why this matters operationally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495800"/>
            <a:ext cx="104648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6"/>
              </a:lnSpc>
            </a:pPr>
            <a:r>
              <a:rPr sz="1320" b="0">
                <a:solidFill>
                  <a:srgbClr val="05164D"/>
                </a:solidFill>
                <a:latin typeface="Aptos"/>
              </a:rPr>
              <a:t>A warehouse operator must decide quickly whether the AGV is blocked by harmless material or by a genuine collision risk. The presentation therefore positions the project as decision support for remote assistance, not as autonomous control.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5461000"/>
            <a:ext cx="10464800" cy="15240"/>
          </a:xfrm>
          <a:prstGeom prst="rect">
            <a:avLst/>
          </a:prstGeom>
          <a:solidFill>
            <a:srgbClr val="D9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0" y="5588000"/>
            <a:ext cx="1046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2"/>
              </a:lnSpc>
            </a:pPr>
            <a:r>
              <a:rPr sz="1080" b="0">
                <a:solidFill>
                  <a:srgbClr val="595452"/>
                </a:solidFill>
                <a:latin typeface="Aptos"/>
              </a:rPr>
              <a:t>The presentation focuses on a narrow warehouse stop-resolution problem: improving operator review, not replacing the vehicle safety controller.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30200"/>
            <a:ext cx="787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>
                <a:solidFill>
                  <a:srgbClr val="05164D"/>
                </a:solidFill>
                <a:latin typeface="Aptos Display"/>
              </a:rPr>
              <a:t>Objective, Scope, and Contribution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34600" y="279400"/>
            <a:ext cx="1524000" cy="304800"/>
          </a:xfrm>
          <a:prstGeom prst="roundRect">
            <a:avLst/>
          </a:prstGeom>
          <a:solidFill>
            <a:srgbClr val="EEF3FF"/>
          </a:solidFill>
          <a:ln w="10160">
            <a:solidFill>
              <a:srgbClr val="5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34600" y="3302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950" b="1">
                <a:solidFill>
                  <a:srgbClr val="0C35F2"/>
                </a:solidFill>
                <a:latin typeface="Aptos Display"/>
              </a:rPr>
              <a:t>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914400"/>
            <a:ext cx="11125200" cy="15240"/>
          </a:xfrm>
          <a:prstGeom prst="rect">
            <a:avLst/>
          </a:prstGeom>
          <a:solidFill>
            <a:srgbClr val="D9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AGV Fleet VLA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0" y="6553200"/>
            <a:ext cx="736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3/13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244600"/>
            <a:ext cx="10896600" cy="9144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4478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300" b="1">
                <a:solidFill>
                  <a:srgbClr val="05164D"/>
                </a:solidFill>
                <a:latin typeface="Aptos Display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01800"/>
            <a:ext cx="1041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7"/>
              </a:lnSpc>
            </a:pPr>
            <a:r>
              <a:rPr sz="1320" b="0">
                <a:solidFill>
                  <a:srgbClr val="05164D"/>
                </a:solidFill>
                <a:latin typeface="Aptos"/>
              </a:rPr>
              <a:t>Build a multimodal decision-support dashboard that helps an operator review AGV stop events using media, telemetry, and recent incident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2438400"/>
            <a:ext cx="51816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26670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sz="1500" b="1">
                <a:solidFill>
                  <a:srgbClr val="388C73"/>
                </a:solidFill>
                <a:latin typeface="Aptos Display"/>
              </a:rPr>
              <a:t>In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048000"/>
            <a:ext cx="4572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Operator-facing advisory dashboard</a:t>
            </a:r>
          </a:p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Schema-constrained multimodal reasoning</a:t>
            </a:r>
          </a:p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Incident persistence and traceability</a:t>
            </a:r>
          </a:p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Prototype-level evaluation and audit tooling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400" y="2438400"/>
            <a:ext cx="51816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7000" y="26670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sz="1500" b="1">
                <a:solidFill>
                  <a:srgbClr val="BF0A30"/>
                </a:solidFill>
                <a:latin typeface="Aptos Display"/>
              </a:rPr>
              <a:t>Out of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3048000"/>
            <a:ext cx="4572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Autonomous actuation or motion control</a:t>
            </a:r>
          </a:p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Live fleet integration or teleoperation</a:t>
            </a:r>
          </a:p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Industrial deployment readiness claims</a:t>
            </a:r>
          </a:p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Large-scale validated benchmark claims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4978400"/>
            <a:ext cx="3429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600" y="5257800"/>
            <a:ext cx="30226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sz="1340" b="1">
                <a:solidFill>
                  <a:srgbClr val="05164D"/>
                </a:solidFill>
                <a:latin typeface="Aptos Display"/>
              </a:rPr>
              <a:t>Implemented multimodal advisory prototype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7200" y="4978400"/>
            <a:ext cx="3429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0400" y="5257800"/>
            <a:ext cx="30226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sz="1340" b="1">
                <a:solidFill>
                  <a:srgbClr val="05164D"/>
                </a:solidFill>
                <a:latin typeface="Aptos Display"/>
              </a:rPr>
              <a:t>Structured operator workflow and persistence layer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978400"/>
            <a:ext cx="3429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4200" y="5257800"/>
            <a:ext cx="30226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sz="1340" b="1">
                <a:solidFill>
                  <a:srgbClr val="05164D"/>
                </a:solidFill>
                <a:latin typeface="Aptos Display"/>
              </a:rPr>
              <a:t>Conservative evaluation and CSV-backed audit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30200"/>
            <a:ext cx="787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>
                <a:solidFill>
                  <a:srgbClr val="05164D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34600" y="279400"/>
            <a:ext cx="1524000" cy="304800"/>
          </a:xfrm>
          <a:prstGeom prst="roundRect">
            <a:avLst/>
          </a:prstGeom>
          <a:solidFill>
            <a:srgbClr val="EEF3FF"/>
          </a:solidFill>
          <a:ln w="10160">
            <a:solidFill>
              <a:srgbClr val="5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34600" y="3302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950" b="1">
                <a:solidFill>
                  <a:srgbClr val="0C35F2"/>
                </a:solidFill>
                <a:latin typeface="Aptos Display"/>
              </a:rPr>
              <a:t>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914400"/>
            <a:ext cx="11125200" cy="15240"/>
          </a:xfrm>
          <a:prstGeom prst="rect">
            <a:avLst/>
          </a:prstGeom>
          <a:solidFill>
            <a:srgbClr val="D9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AGV Fleet VLA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0" y="6553200"/>
            <a:ext cx="736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4/13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244600"/>
            <a:ext cx="3302000" cy="431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524000"/>
            <a:ext cx="2794000" cy="279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86"/>
              </a:lnSpc>
            </a:pPr>
            <a:r>
              <a:rPr sz="1260" b="0">
                <a:solidFill>
                  <a:srgbClr val="05164D"/>
                </a:solidFill>
                <a:latin typeface="Aptos"/>
              </a:rPr>
              <a:t>• Inputs: image or video frame, optional audio, typed telemetry, and recent incident summaries.</a:t>
            </a:r>
          </a:p>
          <a:p>
            <a:pPr algn="l">
              <a:lnSpc>
                <a:spcPts val="1486"/>
              </a:lnSpc>
            </a:pPr>
            <a:r>
              <a:rPr sz="1260" b="0">
                <a:solidFill>
                  <a:srgbClr val="05164D"/>
                </a:solidFill>
                <a:latin typeface="Aptos"/>
              </a:rPr>
              <a:t>• Processing: Gemini multimodal analysis with a constrained JSON response contract.</a:t>
            </a:r>
          </a:p>
          <a:p>
            <a:pPr algn="l">
              <a:lnSpc>
                <a:spcPts val="1486"/>
              </a:lnSpc>
            </a:pPr>
            <a:r>
              <a:rPr sz="1260" b="0">
                <a:solidFill>
                  <a:srgbClr val="05164D"/>
                </a:solidFill>
                <a:latin typeface="Aptos"/>
              </a:rPr>
              <a:t>• Outputs: danger score, recommended action, commentary, and UI trigger state.</a:t>
            </a:r>
          </a:p>
          <a:p>
            <a:pPr algn="l">
              <a:lnSpc>
                <a:spcPts val="1486"/>
              </a:lnSpc>
            </a:pPr>
            <a:r>
              <a:rPr sz="1260" b="0">
                <a:solidFill>
                  <a:srgbClr val="05164D"/>
                </a:solidFill>
                <a:latin typeface="Aptos"/>
              </a:rPr>
              <a:t>• Persistence: Firestore stores both model output and operator decision for later audit and reuse.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0200" y="1244600"/>
            <a:ext cx="7289800" cy="40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18" y="1371600"/>
            <a:ext cx="3101162" cy="381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2600" y="5461000"/>
            <a:ext cx="6985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7"/>
              </a:lnSpc>
            </a:pPr>
            <a:r>
              <a:rPr sz="1050" b="0">
                <a:solidFill>
                  <a:srgbClr val="595452"/>
                </a:solidFill>
                <a:latin typeface="Aptos"/>
              </a:rPr>
              <a:t>Functional diagram of the advisory pipeline from multimodal inputs to operator-facing recommendation and persistence.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30200"/>
            <a:ext cx="787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>
                <a:solidFill>
                  <a:srgbClr val="05164D"/>
                </a:solidFill>
                <a:latin typeface="Aptos Display"/>
              </a:rPr>
              <a:t>Prototype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34600" y="279400"/>
            <a:ext cx="1524000" cy="304800"/>
          </a:xfrm>
          <a:prstGeom prst="roundRect">
            <a:avLst/>
          </a:prstGeom>
          <a:solidFill>
            <a:srgbClr val="EEF3FF"/>
          </a:solidFill>
          <a:ln w="10160">
            <a:solidFill>
              <a:srgbClr val="5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34600" y="3302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950" b="1">
                <a:solidFill>
                  <a:srgbClr val="0C35F2"/>
                </a:solidFill>
                <a:latin typeface="Aptos Display"/>
              </a:rPr>
              <a:t>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914400"/>
            <a:ext cx="11125200" cy="15240"/>
          </a:xfrm>
          <a:prstGeom prst="rect">
            <a:avLst/>
          </a:prstGeom>
          <a:solidFill>
            <a:srgbClr val="D9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AGV Fleet VLA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0" y="6553200"/>
            <a:ext cx="736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5/13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346200"/>
            <a:ext cx="3352800" cy="358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498600"/>
            <a:ext cx="3048000" cy="21590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864131"/>
            <a:ext cx="2946400" cy="14279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3835400"/>
            <a:ext cx="294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09"/>
              </a:lnSpc>
            </a:pPr>
            <a:r>
              <a:rPr sz="1400" b="1">
                <a:solidFill>
                  <a:srgbClr val="05164D"/>
                </a:solidFill>
                <a:latin typeface="Aptos Display"/>
              </a:rPr>
              <a:t>1. 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4165600"/>
            <a:ext cx="2946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74"/>
              </a:lnSpc>
            </a:pPr>
            <a:r>
              <a:rPr sz="1080" b="0">
                <a:solidFill>
                  <a:srgbClr val="05164D"/>
                </a:solidFill>
                <a:latin typeface="Aptos"/>
              </a:rPr>
              <a:t>Operator provides incident media and typed telemetry in the prototype UI.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1346200"/>
            <a:ext cx="3352800" cy="358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498600"/>
            <a:ext cx="3048000" cy="21590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96" y="1549400"/>
            <a:ext cx="2431007" cy="2057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22800" y="3835400"/>
            <a:ext cx="294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09"/>
              </a:lnSpc>
            </a:pPr>
            <a:r>
              <a:rPr sz="1400" b="1">
                <a:solidFill>
                  <a:srgbClr val="05164D"/>
                </a:solidFill>
                <a:latin typeface="Aptos Display"/>
              </a:rPr>
              <a:t>2. 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2800" y="4165600"/>
            <a:ext cx="2946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74"/>
              </a:lnSpc>
            </a:pPr>
            <a:r>
              <a:rPr sz="1080" b="0">
                <a:solidFill>
                  <a:srgbClr val="05164D"/>
                </a:solidFill>
                <a:latin typeface="Aptos"/>
              </a:rPr>
              <a:t>The advisory engine returns status, score, and recommended operator 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5800" y="1346200"/>
            <a:ext cx="3352800" cy="358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58200" y="1498600"/>
            <a:ext cx="3048000" cy="21590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8687" y="1549400"/>
            <a:ext cx="2067025" cy="2057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09000" y="3835400"/>
            <a:ext cx="294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09"/>
              </a:lnSpc>
            </a:pPr>
            <a:r>
              <a:rPr sz="1400" b="1">
                <a:solidFill>
                  <a:srgbClr val="05164D"/>
                </a:solidFill>
                <a:latin typeface="Aptos Display"/>
              </a:rPr>
              <a:t>3. 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9000" y="4165600"/>
            <a:ext cx="2946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74"/>
              </a:lnSpc>
            </a:pPr>
            <a:r>
              <a:rPr sz="1080" b="0">
                <a:solidFill>
                  <a:srgbClr val="05164D"/>
                </a:solidFill>
                <a:latin typeface="Aptos"/>
              </a:rPr>
              <a:t>The operator confirms the stop or forces an override; the final action is logged.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3400" y="5257800"/>
            <a:ext cx="11125200" cy="7366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537200"/>
            <a:ext cx="1066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2"/>
              </a:lnSpc>
            </a:pPr>
            <a:r>
              <a:rPr sz="1220" b="1">
                <a:solidFill>
                  <a:srgbClr val="05164D"/>
                </a:solidFill>
                <a:latin typeface="Aptos Display"/>
              </a:rPr>
              <a:t>The implemented workflow remains human-in-the-loop at the final decision 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30200"/>
            <a:ext cx="787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>
                <a:solidFill>
                  <a:srgbClr val="05164D"/>
                </a:solidFill>
                <a:latin typeface="Aptos Display"/>
              </a:rPr>
              <a:t>Model Contract and Decision Taxonomy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34600" y="279400"/>
            <a:ext cx="1524000" cy="304800"/>
          </a:xfrm>
          <a:prstGeom prst="roundRect">
            <a:avLst/>
          </a:prstGeom>
          <a:solidFill>
            <a:srgbClr val="EEF3FF"/>
          </a:solidFill>
          <a:ln w="10160">
            <a:solidFill>
              <a:srgbClr val="5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34600" y="3302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950" b="1">
                <a:solidFill>
                  <a:srgbClr val="0C35F2"/>
                </a:solidFill>
                <a:latin typeface="Aptos Display"/>
              </a:rPr>
              <a:t>REASONING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914400"/>
            <a:ext cx="11125200" cy="15240"/>
          </a:xfrm>
          <a:prstGeom prst="rect">
            <a:avLst/>
          </a:prstGeom>
          <a:solidFill>
            <a:srgbClr val="D9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AGV Fleet VLA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0" y="6553200"/>
            <a:ext cx="736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6/13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320800"/>
            <a:ext cx="49022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1447800"/>
            <a:ext cx="3276600" cy="3276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40400" y="1320800"/>
            <a:ext cx="56896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69000" y="1524000"/>
            <a:ext cx="215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420" b="1">
                <a:solidFill>
                  <a:srgbClr val="05164D"/>
                </a:solidFill>
                <a:latin typeface="Aptos Display"/>
              </a:rPr>
              <a:t>Model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9000" y="1854200"/>
            <a:ext cx="51816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4"/>
              </a:lnSpc>
            </a:pPr>
            <a:r>
              <a:rPr sz="1080" b="0">
                <a:solidFill>
                  <a:srgbClr val="05164D"/>
                </a:solidFill>
                <a:latin typeface="Aptos"/>
              </a:rPr>
              <a:t>• Main advisory model: gemini-3-flash-preview</a:t>
            </a:r>
          </a:p>
          <a:p>
            <a:pPr algn="l">
              <a:lnSpc>
                <a:spcPts val="1274"/>
              </a:lnSpc>
            </a:pPr>
            <a:r>
              <a:rPr sz="1080" b="0">
                <a:solidFill>
                  <a:srgbClr val="05164D"/>
                </a:solidFill>
                <a:latin typeface="Aptos"/>
              </a:rPr>
              <a:t>• Deterministic decoding: temperature = 0.0</a:t>
            </a:r>
          </a:p>
          <a:p>
            <a:pPr algn="l">
              <a:lnSpc>
                <a:spcPts val="1274"/>
              </a:lnSpc>
            </a:pPr>
            <a:r>
              <a:rPr sz="1080" b="0">
                <a:solidFill>
                  <a:srgbClr val="05164D"/>
                </a:solidFill>
                <a:latin typeface="Aptos"/>
              </a:rPr>
              <a:t>• Response format: application/json</a:t>
            </a:r>
          </a:p>
          <a:p>
            <a:pPr algn="l">
              <a:lnSpc>
                <a:spcPts val="1274"/>
              </a:lnSpc>
            </a:pPr>
            <a:r>
              <a:rPr sz="1080" b="0">
                <a:solidFill>
                  <a:srgbClr val="05164D"/>
                </a:solidFill>
                <a:latin typeface="Aptos"/>
              </a:rPr>
              <a:t>• Prompt includes multimodal evidence and recent incident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40400" y="2794000"/>
            <a:ext cx="2590800" cy="8636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2800" y="3098800"/>
            <a:ext cx="228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8"/>
              </a:lnSpc>
            </a:pPr>
            <a:r>
              <a:rPr sz="1260" b="1">
                <a:solidFill>
                  <a:srgbClr val="05164D"/>
                </a:solidFill>
                <a:latin typeface="Aptos Display"/>
              </a:rPr>
              <a:t>perception_engine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85200" y="2794000"/>
            <a:ext cx="2590800" cy="8636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7600" y="3098800"/>
            <a:ext cx="228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8"/>
              </a:lnSpc>
            </a:pPr>
            <a:r>
              <a:rPr sz="1260" b="1">
                <a:solidFill>
                  <a:srgbClr val="05164D"/>
                </a:solidFill>
                <a:latin typeface="Aptos Display"/>
              </a:rPr>
              <a:t>reasoning_and_commentary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0400" y="3886200"/>
            <a:ext cx="2590800" cy="8636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2800" y="4191000"/>
            <a:ext cx="228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8"/>
              </a:lnSpc>
            </a:pPr>
            <a:r>
              <a:rPr sz="1260" b="1">
                <a:solidFill>
                  <a:srgbClr val="05164D"/>
                </a:solidFill>
                <a:latin typeface="Aptos Display"/>
              </a:rPr>
              <a:t>action_policy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85200" y="3886200"/>
            <a:ext cx="2590800" cy="8636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00" y="4191000"/>
            <a:ext cx="228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8"/>
              </a:lnSpc>
            </a:pPr>
            <a:r>
              <a:rPr sz="1260" b="1">
                <a:solidFill>
                  <a:srgbClr val="05164D"/>
                </a:solidFill>
                <a:latin typeface="Aptos Display"/>
              </a:rPr>
              <a:t>ui_triggers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400" y="5156200"/>
            <a:ext cx="108966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5334000"/>
            <a:ext cx="2794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300" b="1">
                <a:solidFill>
                  <a:srgbClr val="05164D"/>
                </a:solidFill>
                <a:latin typeface="Aptos Display"/>
              </a:rPr>
              <a:t>Danger-score mapping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0" y="5308600"/>
            <a:ext cx="3175000" cy="355600"/>
          </a:xfrm>
          <a:prstGeom prst="roundRect">
            <a:avLst/>
          </a:prstGeom>
          <a:solidFill>
            <a:srgbClr val="E7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0000" y="5384800"/>
            <a:ext cx="317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80"/>
              </a:lnSpc>
            </a:pPr>
            <a:r>
              <a:rPr sz="1200" b="1">
                <a:solidFill>
                  <a:srgbClr val="388C73"/>
                </a:solidFill>
                <a:latin typeface="Aptos Display"/>
              </a:rPr>
              <a:t>Scores 1-2: Safe to Override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13600" y="5308600"/>
            <a:ext cx="3810000" cy="355600"/>
          </a:xfrm>
          <a:prstGeom prst="roundRect">
            <a:avLst/>
          </a:prstGeom>
          <a:solidFill>
            <a:srgbClr val="F7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13600" y="5384800"/>
            <a:ext cx="381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80"/>
              </a:lnSpc>
            </a:pPr>
            <a:r>
              <a:rPr sz="1200" b="1">
                <a:solidFill>
                  <a:srgbClr val="BF0A30"/>
                </a:solidFill>
                <a:latin typeface="Aptos Display"/>
              </a:rPr>
              <a:t>Scores 3-5: Keep Stop / Do Not Override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30200"/>
            <a:ext cx="787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>
                <a:solidFill>
                  <a:srgbClr val="05164D"/>
                </a:solidFill>
                <a:latin typeface="Aptos Display"/>
              </a:rPr>
              <a:t>Persistence, Dashboard, and Traceability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34600" y="279400"/>
            <a:ext cx="1524000" cy="304800"/>
          </a:xfrm>
          <a:prstGeom prst="roundRect">
            <a:avLst/>
          </a:prstGeom>
          <a:solidFill>
            <a:srgbClr val="EEF3FF"/>
          </a:solidFill>
          <a:ln w="10160">
            <a:solidFill>
              <a:srgbClr val="5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34600" y="3302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950" b="1">
                <a:solidFill>
                  <a:srgbClr val="0C35F2"/>
                </a:solidFill>
                <a:latin typeface="Aptos Display"/>
              </a:rPr>
              <a:t>TRACEABILITY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914400"/>
            <a:ext cx="11125200" cy="15240"/>
          </a:xfrm>
          <a:prstGeom prst="rect">
            <a:avLst/>
          </a:prstGeom>
          <a:solidFill>
            <a:srgbClr val="D9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AGV Fleet VLA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0" y="6553200"/>
            <a:ext cx="736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7/13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320800"/>
            <a:ext cx="3200400" cy="391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574800"/>
            <a:ext cx="2717800" cy="31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Firestore stores incident context, model output, operator action, ratings, and notes.</a:t>
            </a:r>
          </a:p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Dashboard views aggregate total incidents, critical events, and low-score overrides.</a:t>
            </a:r>
          </a:p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Incident history supports CSV export and later audit of system recommendations versus operator actions.</a:t>
            </a:r>
          </a:p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History snapshots and source IDs are stored to make future consistency analysis traceable.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38600" y="1320800"/>
            <a:ext cx="7391400" cy="269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811" y="1422400"/>
            <a:ext cx="5202976" cy="2489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38600" y="4267200"/>
            <a:ext cx="3175000" cy="15240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7200" y="4495800"/>
            <a:ext cx="271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300" b="1">
                <a:solidFill>
                  <a:srgbClr val="05164D"/>
                </a:solidFill>
                <a:latin typeface="Aptos Display"/>
              </a:rPr>
              <a:t>Traceability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4826000"/>
            <a:ext cx="2717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1"/>
              </a:lnSpc>
            </a:pPr>
            <a:r>
              <a:rPr sz="1120" b="0">
                <a:solidFill>
                  <a:srgbClr val="05164D"/>
                </a:solidFill>
                <a:latin typeface="Aptos"/>
              </a:rPr>
              <a:t>Persisted history snapshots and source IDs make future score-drift analysis auditable instead of anecdotal.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2200" y="4267200"/>
            <a:ext cx="39878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848" y="4343400"/>
            <a:ext cx="2740503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30200"/>
            <a:ext cx="787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>
                <a:solidFill>
                  <a:srgbClr val="05164D"/>
                </a:solidFill>
                <a:latin typeface="Aptos Display"/>
              </a:rPr>
              <a:t>Evaluation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34600" y="279400"/>
            <a:ext cx="1524000" cy="304800"/>
          </a:xfrm>
          <a:prstGeom prst="roundRect">
            <a:avLst/>
          </a:prstGeom>
          <a:solidFill>
            <a:srgbClr val="EEF3FF"/>
          </a:solidFill>
          <a:ln w="10160">
            <a:solidFill>
              <a:srgbClr val="5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34600" y="3302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950" b="1">
                <a:solidFill>
                  <a:srgbClr val="0C35F2"/>
                </a:solidFill>
                <a:latin typeface="Aptos Display"/>
              </a:rPr>
              <a:t>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914400"/>
            <a:ext cx="11125200" cy="15240"/>
          </a:xfrm>
          <a:prstGeom prst="rect">
            <a:avLst/>
          </a:prstGeom>
          <a:solidFill>
            <a:srgbClr val="D9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AGV Fleet VLA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0" y="6553200"/>
            <a:ext cx="736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8/13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346200"/>
            <a:ext cx="5130800" cy="236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600200"/>
            <a:ext cx="228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sz="1500" b="1">
                <a:solidFill>
                  <a:srgbClr val="05164D"/>
                </a:solidFill>
                <a:latin typeface="Aptos Display"/>
              </a:rPr>
              <a:t>Pilot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06600"/>
            <a:ext cx="4572000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4 conservative text-surrogate scenarios</a:t>
            </a:r>
          </a:p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1 clearly safe, 1 borderline, 2 clearly unsafe</a:t>
            </a:r>
          </a:p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1 history-enabled case</a:t>
            </a:r>
          </a:p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0 repeated scenario pairs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3800" y="1346200"/>
            <a:ext cx="5156200" cy="236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2400" y="1600200"/>
            <a:ext cx="241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sz="1500" b="1">
                <a:solidFill>
                  <a:srgbClr val="05164D"/>
                </a:solidFill>
                <a:latin typeface="Aptos Display"/>
              </a:rPr>
              <a:t>Operational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2400" y="2006600"/>
            <a:ext cx="4572000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20 exported dashboard incidents</a:t>
            </a:r>
          </a:p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3 repeated object groups and 9 repeated rows</a:t>
            </a:r>
          </a:p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1 repeated group with score variance</a:t>
            </a:r>
          </a:p>
          <a:p>
            <a:pPr algn="l">
              <a:lnSpc>
                <a:spcPts val="1439"/>
              </a:lnSpc>
            </a:pPr>
            <a:r>
              <a:rPr sz="1220" b="0">
                <a:solidFill>
                  <a:srgbClr val="05164D"/>
                </a:solidFill>
                <a:latin typeface="Aptos"/>
              </a:rPr>
              <a:t>• 2 telemetry anomaly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" y="4064000"/>
            <a:ext cx="2514600" cy="8128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18000"/>
            <a:ext cx="2209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5"/>
              </a:lnSpc>
            </a:pPr>
            <a:r>
              <a:rPr sz="1130" b="1">
                <a:solidFill>
                  <a:srgbClr val="05164D"/>
                </a:solidFill>
                <a:latin typeface="Aptos Display"/>
              </a:rPr>
              <a:t>Binary decision boundary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51200" y="4064000"/>
            <a:ext cx="2514600" cy="8128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3600" y="4318000"/>
            <a:ext cx="2209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5"/>
              </a:lnSpc>
            </a:pPr>
            <a:r>
              <a:rPr sz="1130" b="1">
                <a:solidFill>
                  <a:srgbClr val="05164D"/>
                </a:solidFill>
                <a:latin typeface="Aptos Display"/>
              </a:rPr>
              <a:t>Danger-score drift on repeated cases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69000" y="4064000"/>
            <a:ext cx="2514600" cy="8128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1400" y="4318000"/>
            <a:ext cx="2209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5"/>
              </a:lnSpc>
            </a:pPr>
            <a:r>
              <a:rPr sz="1130" b="1">
                <a:solidFill>
                  <a:srgbClr val="05164D"/>
                </a:solidFill>
                <a:latin typeface="Aptos Display"/>
              </a:rPr>
              <a:t>Operator-action traceability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4064000"/>
            <a:ext cx="2514600" cy="8128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39200" y="4318000"/>
            <a:ext cx="2209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5"/>
              </a:lnSpc>
            </a:pPr>
            <a:r>
              <a:rPr sz="1130" b="1">
                <a:solidFill>
                  <a:srgbClr val="05164D"/>
                </a:solidFill>
                <a:latin typeface="Aptos Display"/>
              </a:rPr>
              <a:t>Data-quality anomaly detection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400" y="5207000"/>
            <a:ext cx="10896600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5486400"/>
            <a:ext cx="104394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80"/>
              </a:lnSpc>
            </a:pPr>
            <a:r>
              <a:rPr sz="1200" b="1">
                <a:solidFill>
                  <a:srgbClr val="706254"/>
                </a:solidFill>
                <a:latin typeface="Aptos Display"/>
              </a:rPr>
              <a:t>The current evidence is prototype-level and descriptive. It is not an industrial validation benchmark.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30200"/>
            <a:ext cx="787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>
                <a:solidFill>
                  <a:srgbClr val="05164D"/>
                </a:solidFill>
                <a:latin typeface="Aptos Display"/>
              </a:rPr>
              <a:t>Operational Audit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34600" y="279400"/>
            <a:ext cx="1524000" cy="304800"/>
          </a:xfrm>
          <a:prstGeom prst="roundRect">
            <a:avLst/>
          </a:prstGeom>
          <a:solidFill>
            <a:srgbClr val="EEF3FF"/>
          </a:solidFill>
          <a:ln w="10160">
            <a:solidFill>
              <a:srgbClr val="5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34600" y="3302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950" b="1">
                <a:solidFill>
                  <a:srgbClr val="0C35F2"/>
                </a:solidFill>
                <a:latin typeface="Aptos Display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914400"/>
            <a:ext cx="11125200" cy="15240"/>
          </a:xfrm>
          <a:prstGeom prst="rect">
            <a:avLst/>
          </a:prstGeom>
          <a:solidFill>
            <a:srgbClr val="D9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AGV Fleet VLA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0" y="6553200"/>
            <a:ext cx="736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9/13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422400"/>
            <a:ext cx="20066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74800"/>
            <a:ext cx="1701800" cy="76200"/>
          </a:xfrm>
          <a:prstGeom prst="rect">
            <a:avLst/>
          </a:prstGeom>
          <a:solidFill>
            <a:srgbClr val="0C3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600" y="1828800"/>
            <a:ext cx="1600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4"/>
              </a:lnSpc>
            </a:pPr>
            <a:r>
              <a:rPr sz="1100" b="1">
                <a:solidFill>
                  <a:srgbClr val="948E8D"/>
                </a:solidFill>
                <a:latin typeface="Aptos Display"/>
              </a:rPr>
              <a:t>Exported incidents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00" y="2133600"/>
            <a:ext cx="16002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sz="2500" b="1">
                <a:solidFill>
                  <a:srgbClr val="0C35F2"/>
                </a:solidFill>
                <a:latin typeface="Aptos Display"/>
              </a:rPr>
              <a:t>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30500" y="1422400"/>
            <a:ext cx="20066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2900" y="1574800"/>
            <a:ext cx="1701800" cy="76200"/>
          </a:xfrm>
          <a:prstGeom prst="rect">
            <a:avLst/>
          </a:prstGeom>
          <a:solidFill>
            <a:srgbClr val="051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3700" y="1828800"/>
            <a:ext cx="1600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4"/>
              </a:lnSpc>
            </a:pPr>
            <a:r>
              <a:rPr sz="1100" b="1">
                <a:solidFill>
                  <a:srgbClr val="948E8D"/>
                </a:solidFill>
                <a:latin typeface="Aptos Display"/>
              </a:rPr>
              <a:t>Repeated 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3700" y="2133600"/>
            <a:ext cx="16002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sz="2500" b="1">
                <a:solidFill>
                  <a:srgbClr val="05164D"/>
                </a:solidFill>
                <a:latin typeface="Aptos Display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7600" y="1422400"/>
            <a:ext cx="20066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0000" y="1574800"/>
            <a:ext cx="1701800" cy="76200"/>
          </a:xfrm>
          <a:prstGeom prst="rect">
            <a:avLst/>
          </a:prstGeom>
          <a:solidFill>
            <a:srgbClr val="706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0800" y="1828800"/>
            <a:ext cx="1600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4"/>
              </a:lnSpc>
            </a:pPr>
            <a:r>
              <a:rPr sz="1100" b="1">
                <a:solidFill>
                  <a:srgbClr val="948E8D"/>
                </a:solidFill>
                <a:latin typeface="Aptos Display"/>
              </a:rPr>
              <a:t>Repeated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0800" y="2133600"/>
            <a:ext cx="16002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sz="2500" b="1">
                <a:solidFill>
                  <a:srgbClr val="706254"/>
                </a:solidFill>
                <a:latin typeface="Aptos Display"/>
              </a:rPr>
              <a:t>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24700" y="1422400"/>
            <a:ext cx="20066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77100" y="1574800"/>
            <a:ext cx="1701800" cy="76200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27900" y="1828800"/>
            <a:ext cx="1600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4"/>
              </a:lnSpc>
            </a:pPr>
            <a:r>
              <a:rPr sz="1100" b="1">
                <a:solidFill>
                  <a:srgbClr val="948E8D"/>
                </a:solidFill>
                <a:latin typeface="Aptos Display"/>
              </a:rPr>
              <a:t>Variance groups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27900" y="2133600"/>
            <a:ext cx="16002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sz="2500" b="1">
                <a:solidFill>
                  <a:srgbClr val="BF0A30"/>
                </a:solidFill>
                <a:latin typeface="Aptos Display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1800" y="1422400"/>
            <a:ext cx="20066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74200" y="1574800"/>
            <a:ext cx="1701800" cy="76200"/>
          </a:xfrm>
          <a:prstGeom prst="rect">
            <a:avLst/>
          </a:prstGeom>
          <a:solidFill>
            <a:srgbClr val="38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5000" y="1828800"/>
            <a:ext cx="1600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4"/>
              </a:lnSpc>
            </a:pPr>
            <a:r>
              <a:rPr sz="1100" b="1">
                <a:solidFill>
                  <a:srgbClr val="948E8D"/>
                </a:solidFill>
                <a:latin typeface="Aptos Display"/>
              </a:rPr>
              <a:t>Telemetry anomalies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0" y="2133600"/>
            <a:ext cx="16002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sz="2500" b="1">
                <a:solidFill>
                  <a:srgbClr val="388C73"/>
                </a:solidFill>
                <a:latin typeface="Aptos Display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3400" y="3022600"/>
            <a:ext cx="10896600" cy="193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000" y="3251200"/>
            <a:ext cx="261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2"/>
              </a:lnSpc>
            </a:pPr>
            <a:r>
              <a:rPr sz="1350" b="1">
                <a:solidFill>
                  <a:srgbClr val="05164D"/>
                </a:solidFill>
                <a:latin typeface="Aptos Display"/>
              </a:rPr>
              <a:t>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3632200"/>
            <a:ext cx="103124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3"/>
              </a:lnSpc>
            </a:pPr>
            <a:r>
              <a:rPr sz="1240" b="0">
                <a:solidFill>
                  <a:srgbClr val="05164D"/>
                </a:solidFill>
                <a:latin typeface="Aptos"/>
              </a:rPr>
              <a:t>• The repeated-case evidence is small but useful for descriptive consistency checks.</a:t>
            </a:r>
          </a:p>
          <a:p>
            <a:pPr algn="l">
              <a:lnSpc>
                <a:spcPts val="1463"/>
              </a:lnSpc>
            </a:pPr>
            <a:r>
              <a:rPr sz="1240" b="0">
                <a:solidFill>
                  <a:srgbClr val="05164D"/>
                </a:solidFill>
                <a:latin typeface="Aptos"/>
              </a:rPr>
              <a:t>• Only one repeated object cluster showed score variance in the export.</a:t>
            </a:r>
          </a:p>
          <a:p>
            <a:pPr algn="l">
              <a:lnSpc>
                <a:spcPts val="1463"/>
              </a:lnSpc>
            </a:pPr>
            <a:r>
              <a:rPr sz="1240" b="0">
                <a:solidFill>
                  <a:srgbClr val="05164D"/>
                </a:solidFill>
                <a:latin typeface="Aptos"/>
              </a:rPr>
              <a:t>• Two repeated object groups remained stable at score 4 across all three occurrences.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3400" y="5257800"/>
            <a:ext cx="10896600" cy="6096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000" y="5486400"/>
            <a:ext cx="10439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2"/>
              </a:lnSpc>
            </a:pPr>
            <a:r>
              <a:rPr sz="1080" b="0">
                <a:solidFill>
                  <a:srgbClr val="595452"/>
                </a:solidFill>
                <a:latin typeface="Aptos"/>
              </a:rPr>
              <a:t>Source: incident_history_audit.json generated from the exported dashboard CSV.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30200"/>
            <a:ext cx="787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>
                <a:solidFill>
                  <a:srgbClr val="05164D"/>
                </a:solidFill>
                <a:latin typeface="Aptos Display"/>
              </a:rPr>
              <a:t>Repeated-Case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34600" y="279400"/>
            <a:ext cx="1524000" cy="304800"/>
          </a:xfrm>
          <a:prstGeom prst="roundRect">
            <a:avLst/>
          </a:prstGeom>
          <a:solidFill>
            <a:srgbClr val="EEF3FF"/>
          </a:solidFill>
          <a:ln w="10160">
            <a:solidFill>
              <a:srgbClr val="5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34600" y="3302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950" b="1">
                <a:solidFill>
                  <a:srgbClr val="0C35F2"/>
                </a:solidFill>
                <a:latin typeface="Aptos Display"/>
              </a:rPr>
              <a:t>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914400"/>
            <a:ext cx="11125200" cy="15240"/>
          </a:xfrm>
          <a:prstGeom prst="rect">
            <a:avLst/>
          </a:prstGeom>
          <a:solidFill>
            <a:srgbClr val="D9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AGV Fleet VLA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0" y="6553200"/>
            <a:ext cx="736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10/13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422400"/>
            <a:ext cx="1066800" cy="679450"/>
          </a:xfrm>
          <a:prstGeom prst="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" y="1498600"/>
            <a:ext cx="863600" cy="527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1050" b="1">
                <a:solidFill>
                  <a:srgbClr val="05164D"/>
                </a:solidFill>
                <a:latin typeface="Aptos Display"/>
              </a:rPr>
              <a:t>Alias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1422400"/>
            <a:ext cx="838200" cy="679450"/>
          </a:xfrm>
          <a:prstGeom prst="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1800" y="1498600"/>
            <a:ext cx="635000" cy="527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1050" b="1">
                <a:solidFill>
                  <a:srgbClr val="05164D"/>
                </a:solidFill>
                <a:latin typeface="Aptos Display"/>
              </a:rPr>
              <a:t>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8400" y="1422400"/>
            <a:ext cx="1676400" cy="679450"/>
          </a:xfrm>
          <a:prstGeom prst="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0000" y="1498600"/>
            <a:ext cx="1473200" cy="527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1050" b="1">
                <a:solidFill>
                  <a:srgbClr val="05164D"/>
                </a:solidFill>
                <a:latin typeface="Aptos Display"/>
              </a:rPr>
              <a:t>Operator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422400"/>
            <a:ext cx="4038600" cy="679450"/>
          </a:xfrm>
          <a:prstGeom prst="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6400" y="1498600"/>
            <a:ext cx="3835400" cy="527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1050" b="1">
                <a:solidFill>
                  <a:srgbClr val="05164D"/>
                </a:solidFill>
                <a:latin typeface="Aptos Display"/>
              </a:rPr>
              <a:t>Interpretation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2101850"/>
            <a:ext cx="1066800" cy="679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2178050"/>
            <a:ext cx="863600" cy="527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sz="980" b="0">
                <a:solidFill>
                  <a:srgbClr val="05164D"/>
                </a:solidFill>
                <a:latin typeface="Aptos"/>
              </a:rPr>
              <a:t>PED-A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2101850"/>
            <a:ext cx="838200" cy="679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1800" y="2178050"/>
            <a:ext cx="635000" cy="527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sz="980" b="0">
                <a:solidFill>
                  <a:srgbClr val="05164D"/>
                </a:solidFill>
                <a:latin typeface="Aptos"/>
              </a:rPr>
              <a:t>3/5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38400" y="2101850"/>
            <a:ext cx="1676400" cy="679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40000" y="2178050"/>
            <a:ext cx="1473200" cy="527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sz="980" b="0">
                <a:solidFill>
                  <a:srgbClr val="05164D"/>
                </a:solidFill>
                <a:latin typeface="Aptos"/>
              </a:rPr>
              <a:t>Force Override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2101850"/>
            <a:ext cx="4038600" cy="679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16400" y="2178050"/>
            <a:ext cx="3835400" cy="527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sz="980" b="0">
                <a:solidFill>
                  <a:srgbClr val="05164D"/>
                </a:solidFill>
                <a:latin typeface="Aptos"/>
              </a:rPr>
              <a:t>Segregated lane; clean telemetry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2781300"/>
            <a:ext cx="1066800" cy="679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000" y="2857500"/>
            <a:ext cx="863600" cy="527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sz="980" b="0">
                <a:solidFill>
                  <a:srgbClr val="05164D"/>
                </a:solidFill>
                <a:latin typeface="Aptos"/>
              </a:rPr>
              <a:t>PED-B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2781300"/>
            <a:ext cx="838200" cy="679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01800" y="2857500"/>
            <a:ext cx="635000" cy="527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sz="980" b="0">
                <a:solidFill>
                  <a:srgbClr val="05164D"/>
                </a:solidFill>
                <a:latin typeface="Aptos"/>
              </a:rPr>
              <a:t>2/5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38400" y="2781300"/>
            <a:ext cx="1676400" cy="679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40000" y="2857500"/>
            <a:ext cx="1473200" cy="527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sz="980" b="0">
                <a:solidFill>
                  <a:srgbClr val="05164D"/>
                </a:solidFill>
                <a:latin typeface="Aptos"/>
              </a:rPr>
              <a:t>Force Override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2781300"/>
            <a:ext cx="4038600" cy="679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16400" y="2857500"/>
            <a:ext cx="3835400" cy="527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sz="980" b="0">
                <a:solidFill>
                  <a:srgbClr val="05164D"/>
                </a:solidFill>
                <a:latin typeface="Aptos"/>
              </a:rPr>
              <a:t>Segregated lane; malformed lat/long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3400" y="3460750"/>
            <a:ext cx="1066800" cy="679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000" y="3536950"/>
            <a:ext cx="863600" cy="527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sz="980" b="0">
                <a:solidFill>
                  <a:srgbClr val="05164D"/>
                </a:solidFill>
                <a:latin typeface="Aptos"/>
              </a:rPr>
              <a:t>PED-C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0200" y="3460750"/>
            <a:ext cx="838200" cy="679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01800" y="3536950"/>
            <a:ext cx="635000" cy="527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sz="980" b="0">
                <a:solidFill>
                  <a:srgbClr val="05164D"/>
                </a:solidFill>
                <a:latin typeface="Aptos"/>
              </a:rPr>
              <a:t>3/5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8400" y="3460750"/>
            <a:ext cx="1676400" cy="679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0000" y="3536950"/>
            <a:ext cx="1473200" cy="527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sz="980" b="0">
                <a:solidFill>
                  <a:srgbClr val="05164D"/>
                </a:solidFill>
                <a:latin typeface="Aptos"/>
              </a:rPr>
              <a:t>Force Override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3460750"/>
            <a:ext cx="4038600" cy="679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16400" y="3536950"/>
            <a:ext cx="3835400" cy="527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sz="980" b="0">
                <a:solidFill>
                  <a:srgbClr val="05164D"/>
                </a:solidFill>
                <a:latin typeface="Aptos"/>
              </a:rPr>
              <a:t>Segregated lane; clean telemetry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58200" y="1422400"/>
            <a:ext cx="2971800" cy="271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167640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2"/>
              </a:lnSpc>
            </a:pPr>
            <a:r>
              <a:rPr sz="1350" b="1">
                <a:solidFill>
                  <a:srgbClr val="05164D"/>
                </a:solidFill>
                <a:latin typeface="Aptos Display"/>
              </a:rPr>
              <a:t>Stable groups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082800"/>
            <a:ext cx="2362200" cy="149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5"/>
              </a:lnSpc>
            </a:pPr>
            <a:r>
              <a:rPr sz="1140" b="0">
                <a:solidFill>
                  <a:srgbClr val="05164D"/>
                </a:solidFill>
                <a:latin typeface="Aptos"/>
              </a:rPr>
              <a:t>• Blue hand truck group: 4, 4, 4 and operator kept stop.</a:t>
            </a:r>
          </a:p>
          <a:p>
            <a:pPr algn="l">
              <a:lnSpc>
                <a:spcPts val="1345"/>
              </a:lnSpc>
            </a:pPr>
            <a:r>
              <a:rPr sz="1140" b="0">
                <a:solidFill>
                  <a:srgbClr val="05164D"/>
                </a:solidFill>
                <a:latin typeface="Aptos"/>
              </a:rPr>
              <a:t>• Reflective silver cargo group: 4, 4, 4 across all three rows.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3400" y="4495800"/>
            <a:ext cx="10896600" cy="12954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2000" y="4978400"/>
            <a:ext cx="104394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95"/>
              </a:lnSpc>
            </a:pPr>
            <a:r>
              <a:rPr sz="1300" b="1">
                <a:solidFill>
                  <a:srgbClr val="05164D"/>
                </a:solidFill>
                <a:latin typeface="Aptos Display"/>
              </a:rPr>
              <a:t>Conclusion: the observed 2 versus 3 split is localized and input-sensitive, not evidence of broad nondeterminism.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30200"/>
            <a:ext cx="787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>
                <a:solidFill>
                  <a:srgbClr val="05164D"/>
                </a:solidFill>
                <a:latin typeface="Aptos Display"/>
              </a:rPr>
              <a:t>Challenges, Limitations, and Mitigations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34600" y="279400"/>
            <a:ext cx="1524000" cy="304800"/>
          </a:xfrm>
          <a:prstGeom prst="roundRect">
            <a:avLst/>
          </a:prstGeom>
          <a:solidFill>
            <a:srgbClr val="EEF3FF"/>
          </a:solidFill>
          <a:ln w="10160">
            <a:solidFill>
              <a:srgbClr val="5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34600" y="3302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950" b="1">
                <a:solidFill>
                  <a:srgbClr val="0C35F2"/>
                </a:solidFill>
                <a:latin typeface="Aptos Display"/>
              </a:rPr>
              <a:t>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914400"/>
            <a:ext cx="11125200" cy="15240"/>
          </a:xfrm>
          <a:prstGeom prst="rect">
            <a:avLst/>
          </a:prstGeom>
          <a:solidFill>
            <a:srgbClr val="D9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AGV Fleet VLA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0" y="6553200"/>
            <a:ext cx="736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11/13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320800"/>
            <a:ext cx="2724150" cy="677333"/>
          </a:xfrm>
          <a:prstGeom prst="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" y="1397000"/>
            <a:ext cx="2520950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1060" b="1">
                <a:solidFill>
                  <a:srgbClr val="05164D"/>
                </a:solidFill>
                <a:latin typeface="Aptos Display"/>
              </a:rPr>
              <a:t>Challenge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57550" y="1320800"/>
            <a:ext cx="3051048" cy="677333"/>
          </a:xfrm>
          <a:prstGeom prst="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9150" y="1397000"/>
            <a:ext cx="2847848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1060" b="1">
                <a:solidFill>
                  <a:srgbClr val="05164D"/>
                </a:solidFill>
                <a:latin typeface="Aptos Display"/>
              </a:rPr>
              <a:t>Effect on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8598" y="1320800"/>
            <a:ext cx="5121402" cy="677333"/>
          </a:xfrm>
          <a:prstGeom prst="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0198" y="1397000"/>
            <a:ext cx="4918202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1060" b="1">
                <a:solidFill>
                  <a:srgbClr val="05164D"/>
                </a:solidFill>
                <a:latin typeface="Aptos Display"/>
              </a:rPr>
              <a:t>Mitigation in this 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1998133"/>
            <a:ext cx="2724150" cy="6773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2074333"/>
            <a:ext cx="2520950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4"/>
              </a:lnSpc>
            </a:pPr>
            <a:r>
              <a:rPr sz="930" b="0">
                <a:solidFill>
                  <a:srgbClr val="05164D"/>
                </a:solidFill>
                <a:latin typeface="Aptos"/>
              </a:rPr>
              <a:t>Free-tier quota and API project limits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57550" y="1998133"/>
            <a:ext cx="3051048" cy="6773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9150" y="2074333"/>
            <a:ext cx="2847848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4"/>
              </a:lnSpc>
            </a:pPr>
            <a:r>
              <a:rPr sz="930" b="0">
                <a:solidFill>
                  <a:srgbClr val="05164D"/>
                </a:solidFill>
                <a:latin typeface="Aptos"/>
              </a:rPr>
              <a:t>Model-side reruns could not be scaled credibly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8598" y="1998133"/>
            <a:ext cx="5121402" cy="6773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0198" y="2074333"/>
            <a:ext cx="4918202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4"/>
              </a:lnSpc>
            </a:pPr>
            <a:r>
              <a:rPr sz="930" b="0">
                <a:solidFill>
                  <a:srgbClr val="05164D"/>
                </a:solidFill>
                <a:latin typeface="Aptos"/>
              </a:rPr>
              <a:t>Reported the offline audit truthfully and kept a quota-safe probe harness ready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2675466"/>
            <a:ext cx="2724150" cy="6773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2751666"/>
            <a:ext cx="2520950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4"/>
              </a:lnSpc>
            </a:pPr>
            <a:r>
              <a:rPr sz="930" b="0">
                <a:solidFill>
                  <a:srgbClr val="05164D"/>
                </a:solidFill>
                <a:latin typeface="Aptos"/>
              </a:rPr>
              <a:t>Small pilot benchmark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57550" y="2675466"/>
            <a:ext cx="3051048" cy="6773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9150" y="2751666"/>
            <a:ext cx="2847848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4"/>
              </a:lnSpc>
            </a:pPr>
            <a:r>
              <a:rPr sz="930" b="0">
                <a:solidFill>
                  <a:srgbClr val="05164D"/>
                </a:solidFill>
                <a:latin typeface="Aptos"/>
              </a:rPr>
              <a:t>No strong statistical performance claim is justified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8598" y="2675466"/>
            <a:ext cx="5121402" cy="6773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0198" y="2751666"/>
            <a:ext cx="4918202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4"/>
              </a:lnSpc>
            </a:pPr>
            <a:r>
              <a:rPr sz="930" b="0">
                <a:solidFill>
                  <a:srgbClr val="05164D"/>
                </a:solidFill>
                <a:latin typeface="Aptos"/>
              </a:rPr>
              <a:t>Framed results as prototype evidence and audit evidence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3352800"/>
            <a:ext cx="2724150" cy="6773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000" y="3429000"/>
            <a:ext cx="2520950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4"/>
              </a:lnSpc>
            </a:pPr>
            <a:r>
              <a:rPr sz="930" b="0">
                <a:solidFill>
                  <a:srgbClr val="05164D"/>
                </a:solidFill>
                <a:latin typeface="Aptos"/>
              </a:rPr>
              <a:t>Manual telemetry entry in the prototype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57550" y="3352800"/>
            <a:ext cx="3051048" cy="6773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59150" y="3429000"/>
            <a:ext cx="2847848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4"/>
              </a:lnSpc>
            </a:pPr>
            <a:r>
              <a:rPr sz="930" b="0">
                <a:solidFill>
                  <a:srgbClr val="05164D"/>
                </a:solidFill>
                <a:latin typeface="Aptos"/>
              </a:rPr>
              <a:t>Operator-entered inputs can introduce noise or malformed fields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8598" y="3352800"/>
            <a:ext cx="5121402" cy="6773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0198" y="3429000"/>
            <a:ext cx="4918202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4"/>
              </a:lnSpc>
            </a:pPr>
            <a:r>
              <a:rPr sz="930" b="0">
                <a:solidFill>
                  <a:srgbClr val="05164D"/>
                </a:solidFill>
                <a:latin typeface="Aptos"/>
              </a:rPr>
              <a:t>Included telemetry anomalies explicitly in the operational audit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3400" y="4030133"/>
            <a:ext cx="2724150" cy="6773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000" y="4106333"/>
            <a:ext cx="2520950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4"/>
              </a:lnSpc>
            </a:pPr>
            <a:r>
              <a:rPr sz="930" b="0">
                <a:solidFill>
                  <a:srgbClr val="05164D"/>
                </a:solidFill>
                <a:latin typeface="Aptos"/>
              </a:rPr>
              <a:t>Text-surrogate benchmark inputs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57550" y="4030133"/>
            <a:ext cx="3051048" cy="6773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9150" y="4106333"/>
            <a:ext cx="2847848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4"/>
              </a:lnSpc>
            </a:pPr>
            <a:r>
              <a:rPr sz="930" b="0">
                <a:solidFill>
                  <a:srgbClr val="05164D"/>
                </a:solidFill>
                <a:latin typeface="Aptos"/>
              </a:rPr>
              <a:t>Benchmark does not fully match raw-media production conditions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8598" y="4030133"/>
            <a:ext cx="5121402" cy="6773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0198" y="4106333"/>
            <a:ext cx="4918202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4"/>
              </a:lnSpc>
            </a:pPr>
            <a:r>
              <a:rPr sz="930" b="0">
                <a:solidFill>
                  <a:srgbClr val="05164D"/>
                </a:solidFill>
                <a:latin typeface="Aptos"/>
              </a:rPr>
              <a:t>Separated the pilot benchmark from the operational dashboard audit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4707466"/>
            <a:ext cx="2724150" cy="6773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000" y="4783666"/>
            <a:ext cx="2520950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4"/>
              </a:lnSpc>
            </a:pPr>
            <a:r>
              <a:rPr sz="930" b="0">
                <a:solidFill>
                  <a:srgbClr val="05164D"/>
                </a:solidFill>
                <a:latin typeface="Aptos"/>
              </a:rPr>
              <a:t>No formal HCI field study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57550" y="4707466"/>
            <a:ext cx="3051048" cy="6773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59150" y="4783666"/>
            <a:ext cx="2847848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4"/>
              </a:lnSpc>
            </a:pPr>
            <a:r>
              <a:rPr sz="930" b="0">
                <a:solidFill>
                  <a:srgbClr val="05164D"/>
                </a:solidFill>
                <a:latin typeface="Aptos"/>
              </a:rPr>
              <a:t>Operator trust and speed effects remain unvalidated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8598" y="4707466"/>
            <a:ext cx="5121402" cy="6773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0198" y="4783666"/>
            <a:ext cx="4918202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4"/>
              </a:lnSpc>
            </a:pPr>
            <a:r>
              <a:rPr sz="930" b="0">
                <a:solidFill>
                  <a:srgbClr val="05164D"/>
                </a:solidFill>
                <a:latin typeface="Aptos"/>
              </a:rPr>
              <a:t>Positioned HCI evaluation as future work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3400" y="5613400"/>
            <a:ext cx="10896600" cy="4572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5765800"/>
            <a:ext cx="10439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8"/>
              </a:lnSpc>
            </a:pPr>
            <a:r>
              <a:rPr sz="1120" b="1">
                <a:solidFill>
                  <a:srgbClr val="706254"/>
                </a:solidFill>
                <a:latin typeface="Aptos Display"/>
              </a:rPr>
              <a:t>The advisory-only system boundary is intentional and remains appropriate given current VLM spatial-reasoning limits.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30200"/>
            <a:ext cx="787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>
                <a:solidFill>
                  <a:srgbClr val="05164D"/>
                </a:solidFill>
                <a:latin typeface="Aptos Display"/>
              </a:rPr>
              <a:t>Conclusion and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34600" y="279400"/>
            <a:ext cx="1524000" cy="304800"/>
          </a:xfrm>
          <a:prstGeom prst="roundRect">
            <a:avLst/>
          </a:prstGeom>
          <a:solidFill>
            <a:srgbClr val="EEF3FF"/>
          </a:solidFill>
          <a:ln w="10160">
            <a:solidFill>
              <a:srgbClr val="5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34600" y="3302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950" b="1">
                <a:solidFill>
                  <a:srgbClr val="0C35F2"/>
                </a:solidFill>
                <a:latin typeface="Aptos Display"/>
              </a:rPr>
              <a:t>OUTLOOK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914400"/>
            <a:ext cx="11125200" cy="15240"/>
          </a:xfrm>
          <a:prstGeom prst="rect">
            <a:avLst/>
          </a:prstGeom>
          <a:solidFill>
            <a:srgbClr val="D9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AGV Fleet VLA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0" y="6553200"/>
            <a:ext cx="736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12/13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422400"/>
            <a:ext cx="50038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676400"/>
            <a:ext cx="241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sz="1450" b="1">
                <a:solidFill>
                  <a:srgbClr val="05164D"/>
                </a:solidFill>
                <a:latin typeface="Aptos Display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82800"/>
            <a:ext cx="4445000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3"/>
              </a:lnSpc>
            </a:pPr>
            <a:r>
              <a:rPr sz="1240" b="0">
                <a:solidFill>
                  <a:srgbClr val="05164D"/>
                </a:solidFill>
                <a:latin typeface="Aptos"/>
              </a:rPr>
              <a:t>• A working multimodal AGV advisory prototype was implemented.</a:t>
            </a:r>
          </a:p>
          <a:p>
            <a:pPr algn="l">
              <a:lnSpc>
                <a:spcPts val="1463"/>
              </a:lnSpc>
            </a:pPr>
            <a:r>
              <a:rPr sz="1240" b="0">
                <a:solidFill>
                  <a:srgbClr val="05164D"/>
                </a:solidFill>
                <a:latin typeface="Aptos"/>
              </a:rPr>
              <a:t>• The strongest contribution is the operator workflow, persistence layer, and traceability design.</a:t>
            </a:r>
          </a:p>
          <a:p>
            <a:pPr algn="l">
              <a:lnSpc>
                <a:spcPts val="1463"/>
              </a:lnSpc>
            </a:pPr>
            <a:r>
              <a:rPr sz="1240" b="0">
                <a:solidFill>
                  <a:srgbClr val="05164D"/>
                </a:solidFill>
                <a:latin typeface="Aptos"/>
              </a:rPr>
              <a:t>• The present evidence is limited but honest, reproducible, and appropriate for a masters-level prototype.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69000" y="1422400"/>
            <a:ext cx="5461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7600" y="16764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sz="1450" b="1">
                <a:solidFill>
                  <a:srgbClr val="05164D"/>
                </a:solidFill>
                <a:latin typeface="Aptos Display"/>
              </a:rPr>
              <a:t>Future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7600" y="2108200"/>
            <a:ext cx="5003800" cy="4064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0" y="2235200"/>
            <a:ext cx="4699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sz="1140" b="1">
                <a:solidFill>
                  <a:srgbClr val="05164D"/>
                </a:solidFill>
                <a:latin typeface="Aptos Display"/>
              </a:rPr>
              <a:t>Expand the benchmark from 4 scenarios to a wider and more varied case set.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7600" y="2667000"/>
            <a:ext cx="5003800" cy="4064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0" y="2794000"/>
            <a:ext cx="4699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sz="1140" b="1">
                <a:solidFill>
                  <a:srgbClr val="05164D"/>
                </a:solidFill>
                <a:latin typeface="Aptos Display"/>
              </a:rPr>
              <a:t>Automate live telemetry ingestion through an API or streaming interface.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7600" y="3225800"/>
            <a:ext cx="5003800" cy="4064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0" y="3352800"/>
            <a:ext cx="4699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sz="1140" b="1">
                <a:solidFill>
                  <a:srgbClr val="05164D"/>
                </a:solidFill>
                <a:latin typeface="Aptos Display"/>
              </a:rPr>
              <a:t>Move benchmark coverage from text surrogates to raw media inputs.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7600" y="3784600"/>
            <a:ext cx="5003800" cy="4064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0" y="3911600"/>
            <a:ext cx="4699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1"/>
              </a:lnSpc>
            </a:pPr>
            <a:r>
              <a:rPr sz="1140" b="1">
                <a:solidFill>
                  <a:srgbClr val="05164D"/>
                </a:solidFill>
                <a:latin typeface="Aptos Display"/>
              </a:rPr>
              <a:t>Run an HCI study on operator trust, explanation quality, and review speed.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400" y="4648200"/>
            <a:ext cx="10896600" cy="10922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4978400"/>
            <a:ext cx="104394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52"/>
              </a:lnSpc>
            </a:pPr>
            <a:r>
              <a:rPr sz="1400" b="1">
                <a:solidFill>
                  <a:srgbClr val="05164D"/>
                </a:solidFill>
                <a:latin typeface="Aptos Display"/>
              </a:rPr>
              <a:t>Best positioning: a credible academic prototype with a clear path to stronger evaluation.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30200"/>
            <a:ext cx="787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>
                <a:solidFill>
                  <a:srgbClr val="05164D"/>
                </a:solidFill>
                <a:latin typeface="Aptos Display"/>
              </a:rPr>
              <a:t>Appendix: Selected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34600" y="279400"/>
            <a:ext cx="1524000" cy="304800"/>
          </a:xfrm>
          <a:prstGeom prst="roundRect">
            <a:avLst/>
          </a:prstGeom>
          <a:solidFill>
            <a:srgbClr val="EEF3FF"/>
          </a:solidFill>
          <a:ln w="10160">
            <a:solidFill>
              <a:srgbClr val="5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34600" y="3302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950" b="1">
                <a:solidFill>
                  <a:srgbClr val="0C35F2"/>
                </a:solidFill>
                <a:latin typeface="Aptos Display"/>
              </a:rPr>
              <a:t>APPENDIX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914400"/>
            <a:ext cx="11125200" cy="15240"/>
          </a:xfrm>
          <a:prstGeom prst="rect">
            <a:avLst/>
          </a:prstGeom>
          <a:solidFill>
            <a:srgbClr val="D9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AGV Fleet VLA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0" y="6553200"/>
            <a:ext cx="736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77"/>
              </a:lnSpc>
            </a:pPr>
            <a:r>
              <a:rPr sz="850" b="0">
                <a:solidFill>
                  <a:srgbClr val="948E8D"/>
                </a:solidFill>
                <a:latin typeface="Aptos"/>
              </a:rPr>
              <a:t>13/13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422400"/>
            <a:ext cx="10896600" cy="398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676400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sz="1450" b="1">
                <a:solidFill>
                  <a:srgbClr val="05164D"/>
                </a:solidFill>
                <a:latin typeface="Aptos Display"/>
              </a:rPr>
              <a:t>Selected literature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82800"/>
            <a:ext cx="10210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0"/>
              </a:lnSpc>
            </a:pPr>
            <a:r>
              <a:rPr sz="1280" b="0">
                <a:solidFill>
                  <a:srgbClr val="05164D"/>
                </a:solidFill>
                <a:latin typeface="Aptos"/>
              </a:rPr>
              <a:t>• Ahn et al. (2022) - SayCan: grounded language for robotics.</a:t>
            </a:r>
          </a:p>
          <a:p>
            <a:pPr algn="l">
              <a:lnSpc>
                <a:spcPts val="1510"/>
              </a:lnSpc>
            </a:pPr>
            <a:r>
              <a:rPr sz="1280" b="0">
                <a:solidFill>
                  <a:srgbClr val="05164D"/>
                </a:solidFill>
                <a:latin typeface="Aptos"/>
              </a:rPr>
              <a:t>• Brohan et al. (2023) - RT-2: vision-language-action modeling for robots.</a:t>
            </a:r>
          </a:p>
          <a:p>
            <a:pPr algn="l">
              <a:lnSpc>
                <a:spcPts val="1510"/>
              </a:lnSpc>
            </a:pPr>
            <a:r>
              <a:rPr sz="1280" b="0">
                <a:solidFill>
                  <a:srgbClr val="05164D"/>
                </a:solidFill>
                <a:latin typeface="Aptos"/>
              </a:rPr>
              <a:t>• Tian et al. (2024) - DriveVLM: staged reasoning for autonomous driving.</a:t>
            </a:r>
          </a:p>
          <a:p>
            <a:pPr algn="l">
              <a:lnSpc>
                <a:spcPts val="1510"/>
              </a:lnSpc>
            </a:pPr>
            <a:r>
              <a:rPr sz="1280" b="0">
                <a:solidFill>
                  <a:srgbClr val="05164D"/>
                </a:solidFill>
                <a:latin typeface="Aptos"/>
              </a:rPr>
              <a:t>• Parr et al. (2024) - remote monitoring, assistance, management, and driving.</a:t>
            </a:r>
          </a:p>
          <a:p>
            <a:pPr algn="l">
              <a:lnSpc>
                <a:spcPts val="1510"/>
              </a:lnSpc>
            </a:pPr>
            <a:r>
              <a:rPr sz="1280" b="0">
                <a:solidFill>
                  <a:srgbClr val="05164D"/>
                </a:solidFill>
                <a:latin typeface="Aptos"/>
              </a:rPr>
              <a:t>• Guo et al. (2024) - SURDS: spatial reasoning limitations in multimodal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5664200"/>
            <a:ext cx="10896600" cy="4064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791200"/>
            <a:ext cx="10439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4"/>
              </a:lnSpc>
            </a:pPr>
            <a:r>
              <a:rPr sz="1100" b="0">
                <a:solidFill>
                  <a:srgbClr val="595452"/>
                </a:solidFill>
                <a:latin typeface="Aptos"/>
              </a:rPr>
              <a:t>The full bibliography and methodological detail are documented in the project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